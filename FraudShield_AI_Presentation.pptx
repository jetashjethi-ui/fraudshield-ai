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tash Jethi" initials="JJ" lastIdx="1" clrIdx="0">
    <p:extLst>
      <p:ext uri="{19B8F6BF-5375-455C-9EA6-DF929625EA0E}">
        <p15:presenceInfo xmlns:p15="http://schemas.microsoft.com/office/powerpoint/2012/main" userId="9c40ca269f8fde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tash Jethi" userId="9c40ca269f8fdef5" providerId="LiveId" clId="{624E2C4E-3377-4979-BFA9-4160750A4C16}"/>
    <pc:docChg chg="custSel modSld">
      <pc:chgData name="Jetash Jethi" userId="9c40ca269f8fdef5" providerId="LiveId" clId="{624E2C4E-3377-4979-BFA9-4160750A4C16}" dt="2026-03-14T13:04:55.266" v="174" actId="1076"/>
      <pc:docMkLst>
        <pc:docMk/>
      </pc:docMkLst>
      <pc:sldChg chg="modSp mod">
        <pc:chgData name="Jetash Jethi" userId="9c40ca269f8fdef5" providerId="LiveId" clId="{624E2C4E-3377-4979-BFA9-4160750A4C16}" dt="2026-03-14T13:03:17.574" v="173" actId="20577"/>
        <pc:sldMkLst>
          <pc:docMk/>
          <pc:sldMk cId="0" sldId="256"/>
        </pc:sldMkLst>
        <pc:spChg chg="mod">
          <ac:chgData name="Jetash Jethi" userId="9c40ca269f8fdef5" providerId="LiveId" clId="{624E2C4E-3377-4979-BFA9-4160750A4C16}" dt="2026-03-14T13:03:17.574" v="173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Jetash Jethi" userId="9c40ca269f8fdef5" providerId="LiveId" clId="{624E2C4E-3377-4979-BFA9-4160750A4C16}" dt="2026-03-13T17:41:19.584" v="5" actId="122"/>
        <pc:sldMkLst>
          <pc:docMk/>
          <pc:sldMk cId="0" sldId="261"/>
        </pc:sldMkLst>
        <pc:spChg chg="mod">
          <ac:chgData name="Jetash Jethi" userId="9c40ca269f8fdef5" providerId="LiveId" clId="{624E2C4E-3377-4979-BFA9-4160750A4C16}" dt="2026-03-13T17:40:47.248" v="2" actId="1076"/>
          <ac:spMkLst>
            <pc:docMk/>
            <pc:sldMk cId="0" sldId="261"/>
            <ac:spMk id="74" creationId="{00000000-0000-0000-0000-000000000000}"/>
          </ac:spMkLst>
        </pc:spChg>
        <pc:spChg chg="mod">
          <ac:chgData name="Jetash Jethi" userId="9c40ca269f8fdef5" providerId="LiveId" clId="{624E2C4E-3377-4979-BFA9-4160750A4C16}" dt="2026-03-13T17:41:19.584" v="5" actId="122"/>
          <ac:spMkLst>
            <pc:docMk/>
            <pc:sldMk cId="0" sldId="261"/>
            <ac:spMk id="75" creationId="{00000000-0000-0000-0000-000000000000}"/>
          </ac:spMkLst>
        </pc:spChg>
      </pc:sldChg>
      <pc:sldChg chg="delSp modSp mod">
        <pc:chgData name="Jetash Jethi" userId="9c40ca269f8fdef5" providerId="LiveId" clId="{624E2C4E-3377-4979-BFA9-4160750A4C16}" dt="2026-03-14T13:04:55.266" v="174" actId="1076"/>
        <pc:sldMkLst>
          <pc:docMk/>
          <pc:sldMk cId="0" sldId="268"/>
        </pc:sldMkLst>
        <pc:spChg chg="del mod">
          <ac:chgData name="Jetash Jethi" userId="9c40ca269f8fdef5" providerId="LiveId" clId="{624E2C4E-3377-4979-BFA9-4160750A4C16}" dt="2026-03-14T12:58:11.640" v="20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Jetash Jethi" userId="9c40ca269f8fdef5" providerId="LiveId" clId="{624E2C4E-3377-4979-BFA9-4160750A4C16}" dt="2026-03-14T12:58:05.162" v="10" actId="478"/>
          <ac:spMkLst>
            <pc:docMk/>
            <pc:sldMk cId="0" sldId="268"/>
            <ac:spMk id="3" creationId="{00000000-0000-0000-0000-000000000000}"/>
          </ac:spMkLst>
        </pc:spChg>
        <pc:spChg chg="del mod">
          <ac:chgData name="Jetash Jethi" userId="9c40ca269f8fdef5" providerId="LiveId" clId="{624E2C4E-3377-4979-BFA9-4160750A4C16}" dt="2026-03-14T12:58:05.177" v="12"/>
          <ac:spMkLst>
            <pc:docMk/>
            <pc:sldMk cId="0" sldId="268"/>
            <ac:spMk id="4" creationId="{00000000-0000-0000-0000-000000000000}"/>
          </ac:spMkLst>
        </pc:spChg>
        <pc:spChg chg="del mod">
          <ac:chgData name="Jetash Jethi" userId="9c40ca269f8fdef5" providerId="LiveId" clId="{624E2C4E-3377-4979-BFA9-4160750A4C16}" dt="2026-03-14T12:58:39.077" v="116" actId="478"/>
          <ac:spMkLst>
            <pc:docMk/>
            <pc:sldMk cId="0" sldId="268"/>
            <ac:spMk id="5" creationId="{00000000-0000-0000-0000-000000000000}"/>
          </ac:spMkLst>
        </pc:spChg>
        <pc:spChg chg="mod">
          <ac:chgData name="Jetash Jethi" userId="9c40ca269f8fdef5" providerId="LiveId" clId="{624E2C4E-3377-4979-BFA9-4160750A4C16}" dt="2026-03-14T12:59:15.560" v="11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etash Jethi" userId="9c40ca269f8fdef5" providerId="LiveId" clId="{624E2C4E-3377-4979-BFA9-4160750A4C16}" dt="2026-03-14T13:04:55.266" v="174" actId="1076"/>
          <ac:spMkLst>
            <pc:docMk/>
            <pc:sldMk cId="0" sldId="268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FROSTHACK  ·  MARCH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10B9FF"/>
                </a:solidFill>
                <a:latin typeface="Calibri"/>
              </a:defRPr>
            </a:pPr>
            <a:r>
              <a:t>FraudShield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E2E8F0"/>
                </a:solidFill>
                <a:latin typeface="Calibri"/>
              </a:defRPr>
            </a:pPr>
            <a:r>
              <a:t>Adaptive Real-Time Fraud Detection</a:t>
            </a:r>
            <a:br/>
            <a:r>
              <a:t>with Explainable Risk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15 Detection Layers  ·  5-Model Ensemble  ·  Explainable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66928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Team: </a:t>
            </a:r>
            <a:r>
              <a:rPr lang="en-IN" sz="2000" b="1" dirty="0"/>
              <a:t>Aegis </a:t>
            </a:r>
          </a:p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lang="en-IN" sz="2000" b="1" dirty="0"/>
              <a:t>Members: Jetash Jethi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FF"/>
                </a:solidFill>
                <a:latin typeface="Calibri"/>
              </a:defRPr>
            </a:pPr>
            <a:r>
              <a:t>$32.4B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Global card fraud</a:t>
            </a:r>
            <a:br/>
            <a:r>
              <a:t>losses (2024)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1188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F4444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Of fraud goes</a:t>
            </a:r>
            <a:br/>
            <a:r>
              <a:t>undetected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Calibri"/>
              </a:defRPr>
            </a:pPr>
            <a:r>
              <a:t>$4.23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Cost per dollar</a:t>
            </a:r>
            <a:br/>
            <a:r>
              <a:t>of fraud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19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72599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B5CF6"/>
                </a:solidFill>
                <a:latin typeface="Calibri"/>
              </a:defRPr>
            </a:pPr>
            <a:r>
              <a:t>2.5x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599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Fraud growth vs</a:t>
            </a:r>
            <a:br/>
            <a:r>
              <a:t>transaction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661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Key Challenges:</a:t>
            </a:r>
          </a:p>
          <a:p>
            <a:pPr>
              <a:spcBef>
                <a:spcPts val="600"/>
              </a:spcBef>
              <a:defRPr sz="600" b="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Rule-based systems generate 80%+ false positives, blocking real customers</a:t>
            </a:r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Static thresholds can't adapt to evolving fraud patterns</a:t>
            </a:r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No explainability — analysts can't understand WHY a transaction was flagged</a:t>
            </a:r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One-size-fits-all response — every flag gets the same heavy-handed treatment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An end-to-end ML pipeline that detects fraud, explains WHY, and responds proportionally.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FF"/>
                </a:solidFill>
                <a:latin typeface="Calibri"/>
              </a:defRPr>
            </a:pPr>
            <a:r>
              <a:t>15 Detection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From amount analysis to fraud ring detection, SIM swap signals, and behavioral DNA profiling.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  <a:latin typeface="Calibri"/>
              </a:defRPr>
            </a:pPr>
            <a:r>
              <a:t>5-Model Ensemble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XGBoost + CatBoost + RF + MLP Neural Net + Isolation Forest with auto-tuned threshold.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D6A0"/>
                </a:solidFill>
                <a:latin typeface="Calibri"/>
              </a:defRPr>
            </a:pPr>
            <a:r>
              <a:t>Explainable AI (XAI)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Every decision comes with human-readable reasons for analysts to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5349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Adaptive Authentication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760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4-tier response: GREEN (approve), YELLOW (PIN), ORANGE (biometric), RED (block).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Raw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590,540 transactions · 434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240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603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15-Layer Feature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Behavioral DNA, SIM Swap, Velocity, Graph-Lite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61187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40233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5-Model Ensemble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XGB 30% + Cat 25% + RF 15% + MLP 15% + Iso 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98347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3035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394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Risk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806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Score 0-100 · XAI Reasons · Adaptive Auth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188720"/>
            <a:ext cx="4846320" cy="5120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0" y="1371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6D6A0"/>
                </a:solidFill>
                <a:latin typeface="Calibri"/>
              </a:defRPr>
            </a:pPr>
            <a:r>
              <a:t>Key Outputs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Continuous risk score (0-100) per transaction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4-tier adaptive auth response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Human-readable XAI explanations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Fraud ring network alerts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Real-time Streamlit dashboard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Model performance visualizations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Feature importance rankings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15 Feature Engineering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Amount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80360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Behavioral DNA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79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9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SIM Swap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59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799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799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Seasonal Baselines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19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19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Adaptive Auth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Merchant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80360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Mule Network Detection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12079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9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Dormant Hijacking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59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799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799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Round Amount Anomaly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75519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Category Mismatch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New Account Risk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8892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880360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Velocity Features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2064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212079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Email Domain Risk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52359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43799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799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Fraud Ring Detection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8408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875519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19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Device Fingerprinting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Tested on 118,108 held-out transactions (never seen during training)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6517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0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94959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F1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23759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52560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103120"/>
            <a:ext cx="26517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17627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66160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0.954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94959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0.667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59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0.664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52560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0.669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743200"/>
            <a:ext cx="26517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28163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66160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0.941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94959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23759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0.599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52560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0.647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383279"/>
            <a:ext cx="26517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3456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  <a:latin typeface="Calibri"/>
              </a:defRPr>
            </a:pPr>
            <a:r>
              <a:t>MLP Neural 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66160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0.908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394959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0.575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23759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0.731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052560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0.474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023360"/>
            <a:ext cx="26517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2960" y="409651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66160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0.881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035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394959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0.395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323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223759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0.293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611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52560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0.603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4663440"/>
            <a:ext cx="26517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22960" y="4736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66160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0.702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3035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394959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0.104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223759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0.174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611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052560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0.075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5303519"/>
            <a:ext cx="26517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2960" y="5376671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Ensemble (5-Model)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4747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566160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0.937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035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394959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0.673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323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223759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0.759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611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052560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0.604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5919277"/>
            <a:ext cx="10058400" cy="64008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95151" y="6035040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6D6A0"/>
                </a:solidFill>
                <a:latin typeface="Calibri"/>
              </a:defRPr>
            </a:pPr>
            <a:r>
              <a:rPr dirty="0"/>
              <a:t>Ensemble: AUC 0.937  |  Catches 60.4% of fraud  |  Only 0.7% false alarm rate  |  Auto-tuned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Explainable AI (XAI)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530352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Example: Flagged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920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Amount: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$8,247.50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Time: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03:17 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8346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Device: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834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New Android (Samsung)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Location: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291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Different 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490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Risk Score: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87/100  (RED)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Calibri"/>
              </a:defRPr>
            </a:pPr>
            <a:r>
              <a:t>Response: BLOCK + Alert Fraud 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097280"/>
            <a:ext cx="530352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D6A0"/>
                </a:solidFill>
                <a:latin typeface="Calibri"/>
              </a:defRPr>
            </a:pPr>
            <a:r>
              <a:t>AI-Generated Explanations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828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Amount is 3.2x the cardholder's</a:t>
            </a:r>
            <a:br/>
            <a:r>
              <a:t>30-day average spending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1828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651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65176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Transaction at 03:17 AM — outside</a:t>
            </a:r>
            <a:br/>
            <a:r>
              <a:t>normal active hours (9AM-11PM)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2651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4747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New device detected — first time</a:t>
            </a:r>
            <a:br/>
            <a:r>
              <a:t>this device used with this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34747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297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2976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Velocity spike: 3 transactions in</a:t>
            </a:r>
            <a:br/>
            <a:r>
              <a:t>12 mins vs normal rate of 2/day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4297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1206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1206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Email domain risk: disposable</a:t>
            </a:r>
            <a:br/>
            <a:r>
              <a:t>email provider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51206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D6A0"/>
                </a:solidFill>
                <a:latin typeface="Calibri"/>
              </a:defRPr>
            </a:pPr>
            <a:r>
              <a:t>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Adaptive Authentication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Not all suspicious transactions are equal. Our 4-tier response adapts to risk level.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691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6D6A0"/>
                </a:solidFill>
                <a:latin typeface="Calibri"/>
              </a:defRPr>
            </a:pPr>
            <a:r>
              <a:t>GREEN — AUTO-APPROVE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0-30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916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85,802 txns (72.6%)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148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Zero friction. Transaction approved instantly.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9260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59E0B"/>
                </a:solidFill>
                <a:latin typeface="Calibri"/>
              </a:defRPr>
            </a:pPr>
            <a:r>
              <a:t>YELLOW — PIN 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92607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30-60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9260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28,629 txns (24.2%)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38327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Quick PIN check. 2-second delay, catches moderate risk.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160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97316"/>
                </a:solidFill>
                <a:latin typeface="Calibri"/>
              </a:defRPr>
            </a:pPr>
            <a:r>
              <a:t>ORANGE — BIOMETRIC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4160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60-85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160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2,957 txns (2.5%)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617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Fingerprint or face scan. High security, low friction.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5780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5394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EF4444"/>
                </a:solidFill>
                <a:latin typeface="Calibri"/>
              </a:defRPr>
            </a:pPr>
            <a:r>
              <a:t>RED — BLOCK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85-100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720 txns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8521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Blocked immediately. Fraud team alerted.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Projected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Conservative estimates based on industry benchmarks and model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FF"/>
                </a:solidFill>
                <a:latin typeface="Calibri"/>
              </a:defRPr>
            </a:pPr>
            <a:r>
              <a:t>64%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Fewer False</a:t>
            </a:r>
            <a:br/>
            <a:r>
              <a:t>Positives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2044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6D6A0"/>
                </a:solidFill>
                <a:latin typeface="Calibri"/>
              </a:defRPr>
            </a:pPr>
            <a:r>
              <a:t>$2.1M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Annual Savings</a:t>
            </a:r>
            <a:br/>
            <a:r>
              <a:t>Per Bank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B5CF6"/>
                </a:solidFill>
                <a:latin typeface="Calibri"/>
              </a:defRPr>
            </a:pPr>
            <a:r>
              <a:t>60.4%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Fraud Detection</a:t>
            </a:r>
            <a:br/>
            <a:r>
              <a:t>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81159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Calibri"/>
              </a:defRPr>
            </a:pPr>
            <a:r>
              <a:t>0.7%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59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False Alarm</a:t>
            </a:r>
            <a:br/>
            <a:r>
              <a:t>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06240"/>
            <a:ext cx="10515600" cy="228600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3891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D6A0"/>
                </a:solidFill>
                <a:latin typeface="Calibri"/>
              </a:defRPr>
            </a:pPr>
            <a:r>
              <a:t>ROI Calculation (Mid-Size Bank, 10M txns/year)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Manual review savings: ~140K fewer false flags x $15/review = $2.1M saved per year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Fraud prevention: 60.4% detection x avg $450/case x 35K attempts = $9.5M prevented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Customer retention: 72.6% auto-approved = near-zero friction for real customers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Technical Innovations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FF"/>
                </a:solidFill>
                <a:latin typeface="Calibri"/>
              </a:defRPr>
            </a:pPr>
            <a:r>
              <a:t>Optimal Threshold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Scans 40 thresholds (0.30-0.70) to maximize F1. Boosted recall by 7.1%.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Calibri"/>
              </a:defRPr>
            </a:pPr>
            <a:r>
              <a:t>Graph-Lite Fraud Ring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51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Detects shared device/card networks without needing full Graph Neural Networks.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D6A0"/>
                </a:solidFill>
                <a:latin typeface="Calibri"/>
              </a:defRPr>
            </a:pPr>
            <a:r>
              <a:t>Behavioral DNA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7490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Each cardholder gets a unique behavioral fingerprint. Deviations trigger risk escalation.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4805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Triple Imbalance Handling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46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SMOTE + XGBoost scale_pos_weight + CatBoost auto_class_weights.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577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4899"/>
                </a:solidFill>
                <a:latin typeface="Calibri"/>
              </a:defRPr>
            </a:pPr>
            <a:r>
              <a:t>CatBoost Categorical Mastery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943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Handles email domains, device types, product codes natively — no manual encoding.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56616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FF"/>
                </a:solidFill>
                <a:latin typeface="Calibri"/>
              </a:defRPr>
            </a:pPr>
            <a:r>
              <a:t>Phase 1: 0-3 Months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Deploy as real-time API</a:t>
            </a:r>
            <a:br/>
            <a:r>
              <a:t>(FastAPI + Redis)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Add LightGBM as 6th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Model monitoring and</a:t>
            </a:r>
            <a:br/>
            <a:r>
              <a:t>drift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56616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B5CF6"/>
                </a:solidFill>
                <a:latin typeface="Calibri"/>
              </a:defRPr>
            </a:pPr>
            <a:r>
              <a:t>Phase 2: 3-6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20116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63440" y="21488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Graph Neural Networks for</a:t>
            </a:r>
            <a:br/>
            <a:r>
              <a:t>deep fraud ring 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3832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35204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Stacking meta-learner</a:t>
            </a:r>
            <a:br/>
            <a:r>
              <a:t>ensemble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7548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63440" y="4892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Focal Loss for hard</a:t>
            </a:r>
            <a:br/>
            <a:r>
              <a:t>fraud cases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097280"/>
            <a:ext cx="356616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D6A0"/>
                </a:solidFill>
                <a:latin typeface="Calibri"/>
              </a:defRPr>
            </a:pPr>
            <a:r>
              <a:t>Phase 3: 6-12 Months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20116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21488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Online learning — hourly</a:t>
            </a:r>
            <a:br/>
            <a:r>
              <a:t>model 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33832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03920" y="35204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Federated learning across</a:t>
            </a:r>
            <a:br/>
            <a:r>
              <a:t>multiple banks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47548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03920" y="4892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Geospatial velocity</a:t>
            </a:r>
            <a:br/>
            <a:r>
              <a:t>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554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ML /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XGBoost, CatBoost</a:t>
            </a:r>
            <a:br/>
            <a:r>
              <a:t>Scikit-Learn, SMOTE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1887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0" y="1554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B5CF6"/>
                </a:solidFill>
                <a:latin typeface="Calibri"/>
              </a:defRPr>
            </a:pPr>
            <a:r>
              <a:t>Deep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MLP Neural Network</a:t>
            </a:r>
            <a:br/>
            <a:r>
              <a:t>(128-64-32 layers)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1554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Isolation Forest</a:t>
            </a:r>
            <a:br/>
            <a:r>
              <a:t>(Unsupervised)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9319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6D6A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9377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Pandas, NumPy</a:t>
            </a:r>
            <a:br/>
            <a:r>
              <a:t>590K+ transactions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42976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C4899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9377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Matplotlib, Seaborn</a:t>
            </a:r>
            <a:br/>
            <a:r>
              <a:t>Streamlit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9319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2E8F0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9377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  <a:br/>
            <a:r>
              <a:t>2,500+ lines of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09600" y="3063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2E8F0"/>
                </a:solidFill>
                <a:latin typeface="Calibri"/>
              </a:defRPr>
            </a:pPr>
            <a:r>
              <a:rPr dirty="0"/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6417515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rPr dirty="0"/>
              <a:t>github.com/</a:t>
            </a:r>
            <a:r>
              <a:rPr dirty="0" err="1"/>
              <a:t>jetashjethi-ui</a:t>
            </a:r>
            <a:r>
              <a:rPr dirty="0"/>
              <a:t>/</a:t>
            </a:r>
            <a:r>
              <a:rPr dirty="0" err="1"/>
              <a:t>FraudShield</a:t>
            </a:r>
            <a:r>
              <a:rPr dirty="0"/>
              <a:t>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1163</TotalTime>
  <Words>966</Words>
  <Application>Microsoft Office PowerPoint</Application>
  <PresentationFormat>Widescreen</PresentationFormat>
  <Paragraphs>222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Jetash Jethi</cp:lastModifiedBy>
  <cp:revision>1</cp:revision>
  <dcterms:created xsi:type="dcterms:W3CDTF">2013-01-27T09:14:16Z</dcterms:created>
  <dcterms:modified xsi:type="dcterms:W3CDTF">2026-03-14T13:05:08Z</dcterms:modified>
  <cp:category/>
</cp:coreProperties>
</file>
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FROSTHACK  ·  MARCH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10B9FF"/>
                </a:solidFill>
                <a:latin typeface="Calibri"/>
              </a:defRPr>
            </a:pPr>
            <a:r>
              <a:t>FraudShield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E2E8F0"/>
                </a:solidFill>
                <a:latin typeface="Calibri"/>
              </a:defRPr>
            </a:pPr>
            <a:r>
              <a:t>Adaptive Real-Time Fraud Detection</a:t>
            </a:r>
            <a:br/>
            <a:r>
              <a:t>with Explainable Risk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754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15 Detection Layers  ·  5-Model Ensemble  ·  Explainable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Team: Jetash Jethi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0B9FF"/>
                </a:solidFill>
                <a:latin typeface="Calibri"/>
              </a:defRPr>
            </a:pPr>
            <a:r>
              <a:t>$32.4B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Global card fraud</a:t>
            </a:r>
            <a:br/>
            <a:r>
              <a:t>losses (2024)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18872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F4444"/>
                </a:solidFill>
                <a:latin typeface="Calibri"/>
              </a:defRPr>
            </a:pPr>
            <a:r>
              <a:t>68%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2194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Of fraud goes</a:t>
            </a:r>
            <a:br/>
            <a:r>
              <a:t>undetected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18872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59E0B"/>
                </a:solidFill>
                <a:latin typeface="Calibri"/>
              </a:defRPr>
            </a:pPr>
            <a:r>
              <a:t>$4.23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Cost per dollar</a:t>
            </a:r>
            <a:br/>
            <a:r>
              <a:t>of fraud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19" y="1188720"/>
            <a:ext cx="265176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599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B5CF6"/>
                </a:solidFill>
                <a:latin typeface="Calibri"/>
              </a:defRPr>
            </a:pPr>
            <a:r>
              <a:t>2.5x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599" y="2194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Fraud growth vs</a:t>
            </a:r>
            <a:br/>
            <a:r>
              <a:t>transaction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661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8F0"/>
                </a:solidFill>
                <a:latin typeface="Calibri"/>
              </a:defRPr>
            </a:pPr>
            <a:r>
              <a:t>Key Challenges:</a:t>
            </a:r>
          </a:p>
          <a:p>
            <a:pPr>
              <a:spcBef>
                <a:spcPts val="600"/>
              </a:spcBef>
              <a:defRPr sz="600" b="0">
                <a:solidFill>
                  <a:srgbClr val="E2E8F0"/>
                </a:solidFill>
                <a:latin typeface="Calibri"/>
              </a:defRPr>
            </a:pPr>
          </a:p>
          <a:p>
            <a:pPr>
              <a:spcBef>
                <a:spcPts val="1200"/>
              </a:spcBef>
              <a:defRPr sz="1600" b="0">
                <a:solidFill>
                  <a:srgbClr val="E2E8F0"/>
                </a:solidFill>
                <a:latin typeface="Calibri"/>
              </a:defRPr>
            </a:pPr>
            <a:r>
              <a:t>Rule-based systems generate 80%+ false positives, blocking real customers</a:t>
            </a:r>
          </a:p>
          <a:p>
            <a:pPr>
              <a:spcBef>
                <a:spcPts val="1200"/>
              </a:spcBef>
              <a:defRPr sz="1600" b="0">
                <a:solidFill>
                  <a:srgbClr val="E2E8F0"/>
                </a:solidFill>
                <a:latin typeface="Calibri"/>
              </a:defRPr>
            </a:pPr>
            <a:r>
              <a:t>Static thresholds can't adapt to evolving fraud patterns</a:t>
            </a:r>
          </a:p>
          <a:p>
            <a:pPr>
              <a:spcBef>
                <a:spcPts val="1200"/>
              </a:spcBef>
              <a:defRPr sz="1600" b="0">
                <a:solidFill>
                  <a:srgbClr val="E2E8F0"/>
                </a:solidFill>
                <a:latin typeface="Calibri"/>
              </a:defRPr>
            </a:pPr>
            <a:r>
              <a:t>No explainability — analysts can't understand WHY a transaction was flagged</a:t>
            </a:r>
          </a:p>
          <a:p>
            <a:pPr>
              <a:spcBef>
                <a:spcPts val="1200"/>
              </a:spcBef>
              <a:defRPr sz="1600" b="0">
                <a:solidFill>
                  <a:srgbClr val="E2E8F0"/>
                </a:solidFill>
                <a:latin typeface="Calibri"/>
              </a:defRPr>
            </a:pPr>
            <a:r>
              <a:t>One-size-fits-all response — every flag gets the same heavy-handed treatment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An end-to-end ML pipeline that detects fraud, explains WHY, and responds proportionally.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5156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FF"/>
                </a:solidFill>
                <a:latin typeface="Calibri"/>
              </a:defRPr>
            </a:pPr>
            <a:r>
              <a:t>15 Detection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From amount analysis to fraud ring detection, SIM swap signals, and behavioral DNA profiling.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105156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B5CF6"/>
                </a:solidFill>
                <a:latin typeface="Calibri"/>
              </a:defRPr>
            </a:pPr>
            <a:r>
              <a:t>5-Model Ensemble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832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XGBoost + CatBoost + RF + MLP Neural Net + Isolation Forest with auto-tuned threshold.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105156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D6A0"/>
                </a:solidFill>
                <a:latin typeface="Calibri"/>
              </a:defRPr>
            </a:pPr>
            <a:r>
              <a:t>Explainable AI (XAI)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Every decision comes with human-readable reasons for analysts to review.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12080"/>
            <a:ext cx="105156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349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Calibri"/>
              </a:defRPr>
            </a:pPr>
            <a:r>
              <a:t>Adaptive Authentication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7607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4-tier response: GREEN (approve), YELLOW (PIN), ORANGE (biometric), RED (block).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188720"/>
            <a:ext cx="50292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0B9FF"/>
                </a:solidFill>
                <a:latin typeface="Calibri"/>
              </a:defRPr>
            </a:pPr>
            <a:r>
              <a:t>Raw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590,540 transactions · 434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2402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4A3B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60320"/>
            <a:ext cx="50292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0B9FF"/>
                </a:solidFill>
                <a:latin typeface="Calibri"/>
              </a:defRPr>
            </a:pPr>
            <a:r>
              <a:t>15-Layer Feature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3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Behavioral DNA, SIM Swap, Velocity, Graph-Lite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61187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4A3B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931920"/>
            <a:ext cx="50292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0233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0B9FF"/>
                </a:solidFill>
                <a:latin typeface="Calibri"/>
              </a:defRPr>
            </a:pPr>
            <a:r>
              <a:t>5-Model Ensemble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434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XGB 30% + Cat 25% + RF 15% + MLP 15% + Iso 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98347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4A3B8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303520"/>
            <a:ext cx="502920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3949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10B9FF"/>
                </a:solidFill>
                <a:latin typeface="Calibri"/>
              </a:defRPr>
            </a:pPr>
            <a:r>
              <a:t>Risk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806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Score 0-100 · XAI Reasons · Adaptive Auth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188720"/>
            <a:ext cx="4846320" cy="5120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13716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6D6A0"/>
                </a:solidFill>
                <a:latin typeface="Calibri"/>
              </a:defRPr>
            </a:pPr>
            <a:r>
              <a:t>Key Outputs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Continuous risk score (0-100) per transaction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4-tier adaptive auth response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Human-readable XAI explanations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Fraud ring network alerts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Real-time Streamlit dashboard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Model performance visualizations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▸  Feature importance rankings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15 Feature Engineering Layers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Amount Intelligence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8920" y="11887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13716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874519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Behavioral DNA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1887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9" y="13716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9" y="1874519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SIM Swap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59" y="11887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799" y="13716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799" y="1874519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Seasonal Baselines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11887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19" y="13716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19" y="1874519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Adaptive Auth 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2004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Merchant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30175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0360" y="32004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7033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Mule Network Detection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30175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79" y="32004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79" y="37033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Dormant Hijacking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59" y="30175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799" y="32004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799" y="37033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Round Amount Anomaly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4080" y="30175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19" y="32004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19" y="37033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Category Mismatch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8463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292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532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New Account Risk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88920" y="48463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80360" y="50292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5532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Velocity Features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20640" y="48463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79" y="50292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9" y="5532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Email Domain Risk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52359" y="48463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43799" y="50292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3799" y="5532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Fraud Ring Detection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784080" y="4846320"/>
            <a:ext cx="2148840" cy="14630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19" y="50292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L15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19" y="5532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Device Fingerprinting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Model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Tested on 118,108 held-out transactions (never seen during training)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651760" cy="502920"/>
          </a:xfrm>
          <a:prstGeom prst="roundRect">
            <a:avLst/>
          </a:prstGeom>
          <a:solidFill>
            <a:srgbClr val="162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1737360" cy="502920"/>
          </a:xfrm>
          <a:prstGeom prst="roundRect">
            <a:avLst/>
          </a:prstGeom>
          <a:solidFill>
            <a:srgbClr val="162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5361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FF"/>
                </a:solidFill>
                <a:latin typeface="Calibri"/>
              </a:defRPr>
            </a:pPr>
            <a:r>
              <a:t>AUC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463040"/>
            <a:ext cx="1737360" cy="502920"/>
          </a:xfrm>
          <a:prstGeom prst="roundRect">
            <a:avLst/>
          </a:prstGeom>
          <a:solidFill>
            <a:srgbClr val="162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59" y="15361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FF"/>
                </a:solidFill>
                <a:latin typeface="Calibri"/>
              </a:defRPr>
            </a:pPr>
            <a:r>
              <a:t>F1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63040"/>
            <a:ext cx="1737360" cy="502920"/>
          </a:xfrm>
          <a:prstGeom prst="roundRect">
            <a:avLst/>
          </a:prstGeom>
          <a:solidFill>
            <a:srgbClr val="162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59" y="15361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FF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1737360" cy="502920"/>
          </a:xfrm>
          <a:prstGeom prst="roundRect">
            <a:avLst/>
          </a:prstGeom>
          <a:solidFill>
            <a:srgbClr val="162D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5361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0B9FF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103120"/>
            <a:ext cx="26517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7627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B9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210312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217627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0.954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210312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59" y="217627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0.667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210312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59" y="217627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0.664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10312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217627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0.669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2743200"/>
            <a:ext cx="26517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28163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C4899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274320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281635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0.941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274320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59" y="281635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0.623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274320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59" y="281635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0.599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1120" y="274320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0" y="281635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0.647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383279"/>
            <a:ext cx="26517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4564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B5CF6"/>
                </a:solidFill>
                <a:latin typeface="Calibri"/>
              </a:defRPr>
            </a:pPr>
            <a:r>
              <a:t>MLP Neural Net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3383279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60" y="345643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0.908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03520" y="3383279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4959" y="345643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0.575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0" y="3383279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23759" y="345643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0.731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383279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52560" y="345643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0.474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023360"/>
            <a:ext cx="26517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409651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D6A0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74720" y="402336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66160" y="409651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0.881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03520" y="402336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94959" y="409651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0.395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132320" y="402336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23759" y="409651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0.293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61120" y="4023360"/>
            <a:ext cx="1737360" cy="50292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52560" y="409651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0.603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" y="4663440"/>
            <a:ext cx="26517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4736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Calibri"/>
              </a:defRPr>
            </a:pPr>
            <a:r>
              <a:t>Isolation Forest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74720" y="466344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66160" y="47365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0.702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303520" y="466344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94959" y="47365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0.104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32320" y="466344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23759" y="47365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0.174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61120" y="4663440"/>
            <a:ext cx="1737360" cy="5029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52560" y="47365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0.075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" y="5303519"/>
            <a:ext cx="2651760" cy="502920"/>
          </a:xfrm>
          <a:prstGeom prst="roundRect">
            <a:avLst/>
          </a:prstGeom>
          <a:solidFill>
            <a:srgbClr val="1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5376671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F4444"/>
                </a:solidFill>
                <a:latin typeface="Calibri"/>
              </a:defRPr>
            </a:pPr>
            <a:r>
              <a:t>Ensemble (5-Model)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474720" y="5303519"/>
            <a:ext cx="1737360" cy="502920"/>
          </a:xfrm>
          <a:prstGeom prst="roundRect">
            <a:avLst/>
          </a:prstGeom>
          <a:solidFill>
            <a:srgbClr val="1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66160" y="5376671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D6A0"/>
                </a:solidFill>
                <a:latin typeface="Calibri"/>
              </a:defRPr>
            </a:pPr>
            <a:r>
              <a:t>0.937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303520" y="5303519"/>
            <a:ext cx="1737360" cy="502920"/>
          </a:xfrm>
          <a:prstGeom prst="roundRect">
            <a:avLst/>
          </a:prstGeom>
          <a:solidFill>
            <a:srgbClr val="1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94959" y="5376671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D6A0"/>
                </a:solidFill>
                <a:latin typeface="Calibri"/>
              </a:defRPr>
            </a:pPr>
            <a:r>
              <a:t>0.673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132320" y="5303519"/>
            <a:ext cx="1737360" cy="502920"/>
          </a:xfrm>
          <a:prstGeom prst="roundRect">
            <a:avLst/>
          </a:prstGeom>
          <a:solidFill>
            <a:srgbClr val="1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23759" y="5376671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D6A0"/>
                </a:solidFill>
                <a:latin typeface="Calibri"/>
              </a:defRPr>
            </a:pPr>
            <a:r>
              <a:t>0.759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61120" y="5303519"/>
            <a:ext cx="1737360" cy="502920"/>
          </a:xfrm>
          <a:prstGeom prst="roundRect">
            <a:avLst/>
          </a:prstGeom>
          <a:solidFill>
            <a:srgbClr val="1A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52560" y="5376671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6D6A0"/>
                </a:solidFill>
                <a:latin typeface="Calibri"/>
              </a:defRPr>
            </a:pPr>
            <a:r>
              <a:t>0.604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5760720"/>
            <a:ext cx="10058400" cy="640080"/>
          </a:xfrm>
          <a:prstGeom prst="roundRect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7280" y="58521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6D6A0"/>
                </a:solidFill>
                <a:latin typeface="Calibri"/>
              </a:defRPr>
            </a:pPr>
            <a:r>
              <a:t>Ensemble: AUC 0.937  |  Catches 60.4% of fraud  |  Only 0.7% false alarm rate  |  Auto-tuned threshold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Explainable AI (XAI)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530352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alibri"/>
              </a:defRPr>
            </a:pPr>
            <a:r>
              <a:t>Example: Flagged Transaction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920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Amount: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2E8F0"/>
                </a:solidFill>
                <a:latin typeface="Calibri"/>
              </a:defRPr>
            </a:pPr>
            <a:r>
              <a:t>$8,247.50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377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Time: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2E8F0"/>
                </a:solidFill>
                <a:latin typeface="Calibri"/>
              </a:defRPr>
            </a:pPr>
            <a:r>
              <a:t>03:17 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8346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Device: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834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2E8F0"/>
                </a:solidFill>
                <a:latin typeface="Calibri"/>
              </a:defRPr>
            </a:pPr>
            <a:r>
              <a:t>New Android (Samsung)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Location: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2918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2E8F0"/>
                </a:solidFill>
                <a:latin typeface="Calibri"/>
              </a:defRPr>
            </a:pPr>
            <a:r>
              <a:t>Different 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4903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Risk Score: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2E8F0"/>
                </a:solidFill>
                <a:latin typeface="Calibri"/>
              </a:defRPr>
            </a:pPr>
            <a:r>
              <a:t>87/100  (RED)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80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Calibri"/>
              </a:defRPr>
            </a:pPr>
            <a:r>
              <a:t>Response: BLOCK + Alert Fraud Team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097280"/>
            <a:ext cx="530352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D6A0"/>
                </a:solidFill>
                <a:latin typeface="Calibri"/>
              </a:defRPr>
            </a:pPr>
            <a:r>
              <a:t>AI-Generated Explanations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8288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FF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Amount is 3.2x the cardholder's</a:t>
            </a:r>
            <a:br/>
            <a:r>
              <a:t>30-day average spending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1828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6517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FF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65176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Transaction at 03:17 AM — outside</a:t>
            </a:r>
            <a:br/>
            <a:r>
              <a:t>normal active hours (9AM-11PM)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2651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474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FF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4747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New device detected — first time</a:t>
            </a:r>
            <a:br/>
            <a:r>
              <a:t>this device used with this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34747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297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FF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2976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Velocity spike: 3 transactions in</a:t>
            </a:r>
            <a:br/>
            <a:r>
              <a:t>12 mins vs normal rate of 2/day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4297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51206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FF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51206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Email domain risk: disposable</a:t>
            </a:r>
            <a:br/>
            <a:r>
              <a:t>email provider detected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51206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D6A0"/>
                </a:solidFill>
                <a:latin typeface="Calibri"/>
              </a:defRPr>
            </a:pPr>
            <a:r>
              <a:t>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Adaptive Authentication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Not all suspicious transactions are equal. Our 4-tier response adapts to risk level.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515600" cy="1051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916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6D6A0"/>
                </a:solidFill>
                <a:latin typeface="Calibri"/>
              </a:defRPr>
            </a:pPr>
            <a:r>
              <a:t>GREEN — AUTO-APPROVE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69163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Score 0-30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6916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2E8F0"/>
                </a:solidFill>
                <a:latin typeface="Calibri"/>
              </a:defRPr>
            </a:pPr>
            <a:r>
              <a:t>85,802 txns (72.6%)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148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Zero friction. Transaction approved instantly.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051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9260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59E0B"/>
                </a:solidFill>
                <a:latin typeface="Calibri"/>
              </a:defRPr>
            </a:pPr>
            <a:r>
              <a:t>YELLOW — PIN VERIFY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92607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Score 30-60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9260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2E8F0"/>
                </a:solidFill>
                <a:latin typeface="Calibri"/>
              </a:defRPr>
            </a:pPr>
            <a:r>
              <a:t>28,629 txns (24.2%)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38327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Quick PIN check. 2-second delay, catches moderate risk.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515600" cy="1051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605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97316"/>
                </a:solidFill>
                <a:latin typeface="Calibri"/>
              </a:defRPr>
            </a:pPr>
            <a:r>
              <a:t>ORANGE — BIOMETRIC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4160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Score 60-85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160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2E8F0"/>
                </a:solidFill>
                <a:latin typeface="Calibri"/>
              </a:defRPr>
            </a:pPr>
            <a:r>
              <a:t>2,957 txns (2.5%)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6177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Fingerprint or face scan. High security, low friction.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57800"/>
            <a:ext cx="10515600" cy="10515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5394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EF4444"/>
                </a:solidFill>
                <a:latin typeface="Calibri"/>
              </a:defRPr>
            </a:pPr>
            <a:r>
              <a:t>RED — BLOCK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5394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Score 85-100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5394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2E8F0"/>
                </a:solidFill>
                <a:latin typeface="Calibri"/>
              </a:defRPr>
            </a:pPr>
            <a:r>
              <a:t>720 txns (0.6%)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8521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Blocked immediately. Fraud team alerted.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Projected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Conservative estimates based on industry benchmarks and model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269748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0B9FF"/>
                </a:solidFill>
                <a:latin typeface="Calibri"/>
              </a:defRPr>
            </a:pPr>
            <a:r>
              <a:t>64%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E8F0"/>
                </a:solidFill>
                <a:latin typeface="Calibri"/>
              </a:defRPr>
            </a:pPr>
            <a:r>
              <a:t>Fewer False</a:t>
            </a:r>
            <a:br/>
            <a:r>
              <a:t>Positives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463040"/>
            <a:ext cx="269748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6D6A0"/>
                </a:solidFill>
                <a:latin typeface="Calibri"/>
              </a:defRPr>
            </a:pPr>
            <a:r>
              <a:t>$2.1M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468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E8F0"/>
                </a:solidFill>
                <a:latin typeface="Calibri"/>
              </a:defRPr>
            </a:pPr>
            <a:r>
              <a:t>Annual Savings</a:t>
            </a:r>
            <a:br/>
            <a:r>
              <a:t>Per Bank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269748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B5CF6"/>
                </a:solidFill>
                <a:latin typeface="Calibri"/>
              </a:defRPr>
            </a:pPr>
            <a:r>
              <a:t>60.4%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68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E8F0"/>
                </a:solidFill>
                <a:latin typeface="Calibri"/>
              </a:defRPr>
            </a:pPr>
            <a:r>
              <a:t>Fraud Detection</a:t>
            </a:r>
            <a:br/>
            <a:r>
              <a:t>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1463040"/>
            <a:ext cx="269748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1159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59E0B"/>
                </a:solidFill>
                <a:latin typeface="Calibri"/>
              </a:defRPr>
            </a:pPr>
            <a:r>
              <a:t>0.7%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59" y="2468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2E8F0"/>
                </a:solidFill>
                <a:latin typeface="Calibri"/>
              </a:defRPr>
            </a:pPr>
            <a:r>
              <a:t>False Alarm</a:t>
            </a:r>
            <a:br/>
            <a:r>
              <a:t>Rate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06240"/>
            <a:ext cx="10515600" cy="2286000"/>
          </a:xfrm>
          <a:prstGeom prst="roundRect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3891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D6A0"/>
                </a:solidFill>
                <a:latin typeface="Calibri"/>
              </a:defRPr>
            </a:pPr>
            <a:r>
              <a:t>ROI Calculation (Mid-Size Bank, 10M txns/year)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alibri"/>
              </a:defRPr>
            </a:pP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Manual review savings: ~140K fewer false flags x $15/review = $2.1M saved per year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Fraud prevention: 60.4% detection x avg $450/case x 35K attempts = $9.5M prevented</a:t>
            </a:r>
          </a:p>
          <a:p>
            <a:pPr>
              <a:spcBef>
                <a:spcPts val="12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Customer retention: 72.6% auto-approved = near-zero friction for real customers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Technical Innovations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51560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188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FF"/>
                </a:solidFill>
                <a:latin typeface="Calibri"/>
              </a:defRPr>
            </a:pPr>
            <a:r>
              <a:t>Optimal Threshold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Scans 40 thresholds (0.30-0.70) to maximize F1. Boosted recall by 7.1%.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51560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Calibri"/>
              </a:defRPr>
            </a:pPr>
            <a:r>
              <a:t>Graph-Lite Fraud Ring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517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Detects shared device/card networks without needing full Graph Neural Networks.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51560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3832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D6A0"/>
                </a:solidFill>
                <a:latin typeface="Calibri"/>
              </a:defRPr>
            </a:pPr>
            <a:r>
              <a:t>Behavioral DNA Profiling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74903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Each cardholder gets a unique behavioral fingerprint. Deviations trigger risk escalation.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89120"/>
            <a:ext cx="1051560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4805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Triple Imbalance Handling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463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SMOTE + XGBoost scale_pos_weight + CatBoost auto_class_weights.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486400"/>
            <a:ext cx="10515600" cy="9144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5778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C4899"/>
                </a:solidFill>
                <a:latin typeface="Calibri"/>
              </a:defRPr>
            </a:pPr>
            <a:r>
              <a:t>CatBoost Categorical Mastery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943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Handles email domains, device types, product codes natively — no manual encoding.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Future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56616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B9FF"/>
                </a:solidFill>
                <a:latin typeface="Calibri"/>
              </a:defRPr>
            </a:pPr>
            <a:r>
              <a:t>Phase 1: 0-3 Months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Deploy as real-time API</a:t>
            </a:r>
            <a:br/>
            <a:r>
              <a:t>(FastAPI + Redis)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832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Add LightGBM as 6th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548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Model monitoring and</a:t>
            </a:r>
            <a:br/>
            <a:r>
              <a:t>drift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097280"/>
            <a:ext cx="356616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280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8B5CF6"/>
                </a:solidFill>
                <a:latin typeface="Calibri"/>
              </a:defRPr>
            </a:pPr>
            <a:r>
              <a:t>Phase 2: 3-6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20116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488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Graph Neural Networks for</a:t>
            </a:r>
            <a:br/>
            <a:r>
              <a:t>deep fraud ring 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33832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35204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Stacking meta-learner</a:t>
            </a:r>
            <a:br/>
            <a:r>
              <a:t>ensemble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47548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48920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Focal Loss for hard</a:t>
            </a:r>
            <a:br/>
            <a:r>
              <a:t>fraud cases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097280"/>
            <a:ext cx="3566160" cy="50292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2801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6D6A0"/>
                </a:solidFill>
                <a:latin typeface="Calibri"/>
              </a:defRPr>
            </a:pPr>
            <a:r>
              <a:t>Phase 3: 6-12 Months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20116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21488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Online learning — hourly</a:t>
            </a:r>
            <a:br/>
            <a:r>
              <a:t>model updates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33832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35204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Federated learning across</a:t>
            </a:r>
            <a:br/>
            <a:r>
              <a:t>multiple banks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4754880"/>
            <a:ext cx="3200400" cy="1097280"/>
          </a:xfrm>
          <a:prstGeom prst="roundRect">
            <a:avLst/>
          </a:prstGeom>
          <a:solidFill>
            <a:srgbClr val="152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48920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2E8F0"/>
                </a:solidFill>
                <a:latin typeface="Calibri"/>
              </a:defRPr>
            </a:pPr>
            <a:r>
              <a:t>Geospatial velocity</a:t>
            </a:r>
            <a:br/>
            <a:r>
              <a:t>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10B9FF"/>
                </a:solidFill>
                <a:latin typeface="Calibri"/>
              </a:defRPr>
            </a:pPr>
            <a:r>
              <a:t>Tech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188720"/>
            <a:ext cx="32004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554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FF"/>
                </a:solidFill>
                <a:latin typeface="Calibri"/>
              </a:defRPr>
            </a:pPr>
            <a:r>
              <a:t>ML /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1945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  <a:latin typeface="Calibri"/>
              </a:defRPr>
            </a:pPr>
            <a:r>
              <a:t>XGBoost, CatBoost</a:t>
            </a:r>
            <a:br/>
            <a:r>
              <a:t>Scikit-Learn, SMOTE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188720"/>
            <a:ext cx="32004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554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B5CF6"/>
                </a:solidFill>
                <a:latin typeface="Calibri"/>
              </a:defRPr>
            </a:pPr>
            <a:r>
              <a:t>Deep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1945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  <a:latin typeface="Calibri"/>
              </a:defRPr>
            </a:pPr>
            <a:r>
              <a:t>MLP Neural Network</a:t>
            </a:r>
            <a:br/>
            <a:r>
              <a:t>(128-64-32 layers)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32004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554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59E0B"/>
                </a:solidFill>
                <a:latin typeface="Calibri"/>
              </a:defRPr>
            </a:pPr>
            <a:r>
              <a:t>Anomaly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1945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  <a:latin typeface="Calibri"/>
              </a:defRPr>
            </a:pPr>
            <a:r>
              <a:t>Isolation Forest</a:t>
            </a:r>
            <a:br/>
            <a:r>
              <a:t>(Unsupervised)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931920"/>
            <a:ext cx="32004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976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6D6A0"/>
                </a:solidFill>
                <a:latin typeface="Calibri"/>
              </a:defRPr>
            </a:pPr>
            <a:r>
              <a:t>Data 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9377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  <a:latin typeface="Calibri"/>
              </a:defRPr>
            </a:pPr>
            <a:r>
              <a:t>Pandas, NumPy</a:t>
            </a:r>
            <a:br/>
            <a:r>
              <a:t>590K+ transactions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3931920"/>
            <a:ext cx="32004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42976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C4899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9377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  <a:latin typeface="Calibri"/>
              </a:defRPr>
            </a:pPr>
            <a:r>
              <a:t>Matplotlib, Seaborn</a:t>
            </a:r>
            <a:br/>
            <a:r>
              <a:t>Streamlit Dashboard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931920"/>
            <a:ext cx="32004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2976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2E8F0"/>
                </a:solidFill>
                <a:latin typeface="Calibri"/>
              </a:defRPr>
            </a:pPr>
            <a:r>
              <a:t>Language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9377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  <a:br/>
            <a:r>
              <a:t>2,500+ lines of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10B9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0" y="2743200"/>
            <a:ext cx="5760720" cy="731520"/>
          </a:xfrm>
          <a:prstGeom prst="roundRect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0" y="28346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6D6A0"/>
                </a:solidFill>
                <a:latin typeface="Calibri"/>
              </a:defRPr>
            </a:pPr>
            <a:r>
              <a:t>streamlit run dashboard.py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  <a:latin typeface="Calibri"/>
              </a:defRPr>
            </a:pPr>
            <a:r>
              <a:t>Interactive fraud detection with real-time risk scoring,</a:t>
            </a:r>
            <a:br/>
            <a:r>
              <a:t>explainable AI, and adaptive authentication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2E8F0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github.com/jetashjethi-ui/FraudShield-AI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